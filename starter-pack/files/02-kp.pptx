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Обложка. Крупно — название клиента, ниже — «Коммерческое предложение». Круг справа замените своим фото: люди работают с людьми. Имя, почту и телефон в шапке поменяйте один раз в меню «Вид → Образец слайдов».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Покажите, что вы поняли задачу. Перескажите её словами клиента из брифа — разделы «Организационные вопросы» и «Компания и продукт».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Решение должно отвечать на задачу со слайда 2. Этот же список работ потом войдёт в Задание к договору (файл 03).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Распишите этапы по неделям. Плашки можно растягивать на несколько недель, если этап длинный. Ниже на слайде можно перечислить, что клиент получает в конце каждого этапа.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пакета помогают клиенту выбрать, а не решать «да или нет». Средний пакет обычно выбирают чаще — сделайте его самым выгодным. Если пакеты не нужны, оставьте одну колонку или замените слайд сметой.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Эти же проценты и сроки впишите в договор (п. 4.2) и в счёт на предоплату (файл 06).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Числа должны совпадать с договором: п. 5.5 (количество и объём доработок). Всё, что сверх, — через допсоглашение (файл 05).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Покажите 2–3 проекта, близких к задаче клиента. Учебные проекты курса подходят — оформите их по шаблону кейсов. Серые плашки замените картинками.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Расскажите о себе и добавьте фото. Навыки подбирайте под задачу клиента.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Укажите, как с вами связаться, и до какой даты действует предложение — это мягко подталкивает к решению. Отправляйте КП в PDF, с коротким письмом: что внутри и какой следующий шаг.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_COVER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[Ваше имя / студия]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663440" y="2286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[почта]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766560" y="2286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[телефон / Telegram]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_SECTION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[Ваше имя / студия]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663440" y="2286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[почта]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766560" y="2286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[телефон / Telegram]</a:t>
            </a:r>
            <a:endParaRPr lang="en-US" sz="9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365760" y="914400"/>
            <a:ext cx="40233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Заголовок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лиент"/>
          <p:cNvSpPr txBox="1"/>
          <p:nvPr/>
        </p:nvSpPr>
        <p:spPr>
          <a:xfrm>
            <a:off x="365760" y="114300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[Название клиента]</a:t>
            </a:r>
            <a:endParaRPr lang="en-US" sz="6000" dirty="0"/>
          </a:p>
        </p:txBody>
      </p:sp>
      <p:sp>
        <p:nvSpPr>
          <p:cNvPr id="3" name="Подзаголовок"/>
          <p:cNvSpPr txBox="1"/>
          <p:nvPr/>
        </p:nvSpPr>
        <p:spPr>
          <a:xfrm>
            <a:off x="365760" y="370332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Коммерческое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предложение</a:t>
            </a:r>
            <a:endParaRPr lang="en-US" sz="2600" dirty="0"/>
          </a:p>
        </p:txBody>
      </p:sp>
      <p:sp>
        <p:nvSpPr>
          <p:cNvPr id="4" name="Фото"/>
          <p:cNvSpPr/>
          <p:nvPr/>
        </p:nvSpPr>
        <p:spPr>
          <a:xfrm>
            <a:off x="7726680" y="3703320"/>
            <a:ext cx="1051560" cy="105156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26680" y="402336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ваше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фото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365760" y="91440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Задача</a:t>
            </a:r>
            <a:endParaRPr lang="en-US" sz="4000" dirty="0"/>
          </a:p>
        </p:txBody>
      </p:sp>
      <p:sp>
        <p:nvSpPr>
          <p:cNvPr id="3" name="Задача"/>
          <p:cNvSpPr txBox="1"/>
          <p:nvPr/>
        </p:nvSpPr>
        <p:spPr>
          <a:xfrm>
            <a:off x="4663440" y="141732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[Задача клиента одним-двумя предложениями. Например: создать сайт для студии керамики, через который будут записываться на мастер-классы]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663440" y="31546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[Контекст: почему задача возникла сейчас. Возьмите формулировки из брифа — клиент должен узнать свои слова]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365760" y="91440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Решение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4663440" y="141732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[Что сделаете. Например: 2 концепции первого экрана, дизайн 7 блоков, мобильная версия, вёрстка на Tilda. Весь проект — за 21 день]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663440" y="31546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[Весь спектр работ, которые берёте на себя, и инструменты. Чем точнее список, тем меньше споров про «а ещё одну страничку»]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365760" y="91440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Процесс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4663440" y="9601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[Из каких этапов состоит проект. Так клиент видит полную картину и понимает, за что платит]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21488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1</a:t>
            </a:r>
            <a:endParaRPr lang="en-US" sz="1000" dirty="0"/>
          </a:p>
        </p:txBody>
      </p:sp>
      <p:sp>
        <p:nvSpPr>
          <p:cNvPr id="5" name="Этап 1"/>
          <p:cNvSpPr/>
          <p:nvPr/>
        </p:nvSpPr>
        <p:spPr>
          <a:xfrm>
            <a:off x="365760" y="2606040"/>
            <a:ext cx="2011680" cy="41148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26060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[Аналитика]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468880" y="21488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23160" y="2468880"/>
            <a:ext cx="0" cy="2468880"/>
          </a:xfrm>
          <a:prstGeom prst="line">
            <a:avLst/>
          </a:prstGeom>
          <a:noFill/>
          <a:ln w="6350">
            <a:solidFill>
              <a:schemeClr val="accent3"/>
            </a:solidFill>
            <a:prstDash val="solid"/>
          </a:ln>
        </p:spPr>
      </p:sp>
      <p:sp>
        <p:nvSpPr>
          <p:cNvPr id="9" name="Этап 2"/>
          <p:cNvSpPr/>
          <p:nvPr/>
        </p:nvSpPr>
        <p:spPr>
          <a:xfrm>
            <a:off x="2468880" y="3108960"/>
            <a:ext cx="2011680" cy="41148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606040" y="3108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[Проектирование]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1488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3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26280" y="2468880"/>
            <a:ext cx="0" cy="2468880"/>
          </a:xfrm>
          <a:prstGeom prst="line">
            <a:avLst/>
          </a:prstGeom>
          <a:noFill/>
          <a:ln w="6350">
            <a:solidFill>
              <a:schemeClr val="accent3"/>
            </a:solidFill>
            <a:prstDash val="solid"/>
          </a:ln>
        </p:spPr>
      </p:sp>
      <p:sp>
        <p:nvSpPr>
          <p:cNvPr id="13" name="Этап 3"/>
          <p:cNvSpPr/>
          <p:nvPr/>
        </p:nvSpPr>
        <p:spPr>
          <a:xfrm>
            <a:off x="4572000" y="3611880"/>
            <a:ext cx="2011680" cy="41148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709160" y="36118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[Визуальный дизайн]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675120" y="21488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4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629400" y="2468880"/>
            <a:ext cx="0" cy="2468880"/>
          </a:xfrm>
          <a:prstGeom prst="line">
            <a:avLst/>
          </a:prstGeom>
          <a:noFill/>
          <a:ln w="6350">
            <a:solidFill>
              <a:schemeClr val="accent3"/>
            </a:solidFill>
            <a:prstDash val="solid"/>
          </a:ln>
        </p:spPr>
      </p:sp>
      <p:sp>
        <p:nvSpPr>
          <p:cNvPr id="17" name="Этап 4"/>
          <p:cNvSpPr/>
          <p:nvPr/>
        </p:nvSpPr>
        <p:spPr>
          <a:xfrm>
            <a:off x="6675120" y="4114800"/>
            <a:ext cx="2011680" cy="41148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12280" y="41148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[Передача проекта]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365760" y="91440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Стоимость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4663440" y="9601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[Стоимость на основе календарного плана. На крупных проектах — смета: стоимость часа × часы по этапам]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1874520"/>
            <a:ext cx="269748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65760" y="198424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Базовый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2377440"/>
            <a:ext cx="2697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[Концепция первого экрана]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[Дизайн 5 блоков]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[Десктоп-версия]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 раунда правок]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4069080"/>
            <a:ext cx="2697480" cy="0"/>
          </a:xfrm>
          <a:prstGeom prst="line">
            <a:avLst/>
          </a:prstGeom>
          <a:noFill/>
          <a:ln w="6350">
            <a:solidFill>
              <a:schemeClr val="accent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5760" y="416052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[__ ___ ₽]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218688" y="1874520"/>
            <a:ext cx="269748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18688" y="198424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Стандартный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218688" y="2377440"/>
            <a:ext cx="2697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 концепции]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[Дизайн 7 блоков]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[Десктоп + мобильная]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[Вёрстка на Tilda]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18688" y="4069080"/>
            <a:ext cx="2697480" cy="0"/>
          </a:xfrm>
          <a:prstGeom prst="line">
            <a:avLst/>
          </a:prstGeom>
          <a:noFill/>
          <a:ln w="635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18688" y="416052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[__ ___ ₽]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071616" y="1874520"/>
            <a:ext cx="269748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71616" y="198424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Расширенный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071616" y="2377440"/>
            <a:ext cx="2697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[Всё из «Стандартного»]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[Анимация]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[Подключение домена и аналитики]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[Обучение управлению сайтом]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71616" y="4069080"/>
            <a:ext cx="2697480" cy="0"/>
          </a:xfrm>
          <a:prstGeom prst="line">
            <a:avLst/>
          </a:prstGeom>
          <a:noFill/>
          <a:ln w="6350">
            <a:solidFill>
              <a:schemeClr val="accent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71616" y="416052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[__ ___ ₽]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365760" y="91440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Оплата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4663440" y="9601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[Оптимально — 50 % вперёд и 50 % после передачи проекта. Работа начинается после предоплаты]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2103120"/>
            <a:ext cx="416052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Предоплата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проект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3375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[50 %]</a:t>
            </a:r>
            <a:endParaRPr lang="en-US" sz="5400" dirty="0"/>
          </a:p>
        </p:txBody>
      </p:sp>
      <p:sp>
        <p:nvSpPr>
          <p:cNvPr id="7" name="Shape 5"/>
          <p:cNvSpPr/>
          <p:nvPr/>
        </p:nvSpPr>
        <p:spPr>
          <a:xfrm>
            <a:off x="4617720" y="2103120"/>
            <a:ext cx="4160520" cy="2377440"/>
          </a:xfrm>
          <a:prstGeom prst="roundRect">
            <a:avLst>
              <a:gd name="adj" fmla="val 4615"/>
            </a:avLst>
          </a:prstGeom>
          <a:solidFill>
            <a:schemeClr val="tx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892040" y="23774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 презентации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передачи проекта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33375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[50 %]</a:t>
            </a:r>
            <a:endParaRPr lang="en-US" sz="5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365760" y="91440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Доработки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4663440" y="960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[Сколько правок входит в стоимость и сколько стоит работа сверх них]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663440" y="169164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4663440" y="22585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раунда правок на каждом этапе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2715768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 часа]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328269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один раунд правок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3739896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[____ ₽/час]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430682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дополнительные правки и работы вне задания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365760" y="91440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Кейсы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4663440" y="9601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[Один слайд — один проект: несколько картинок, короткое описание и ссылка, где посмотреть подробнее]</a:t>
            </a:r>
            <a:endParaRPr lang="en-US" sz="1100" dirty="0"/>
          </a:p>
        </p:txBody>
      </p:sp>
      <p:sp>
        <p:nvSpPr>
          <p:cNvPr id="4" name="Картинка кейса 1"/>
          <p:cNvSpPr/>
          <p:nvPr/>
        </p:nvSpPr>
        <p:spPr>
          <a:xfrm>
            <a:off x="365760" y="1920240"/>
            <a:ext cx="269748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65760" y="26517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картинка проекта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37947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[Проект 1]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409651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[Что сделали и какой результат — одной строкой]</a:t>
            </a:r>
            <a:endParaRPr lang="en-US" sz="1000" dirty="0"/>
          </a:p>
        </p:txBody>
      </p:sp>
      <p:sp>
        <p:nvSpPr>
          <p:cNvPr id="8" name="Картинка кейса 2"/>
          <p:cNvSpPr/>
          <p:nvPr/>
        </p:nvSpPr>
        <p:spPr>
          <a:xfrm>
            <a:off x="3218688" y="1920240"/>
            <a:ext cx="269748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218688" y="26517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картинка проекта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3218688" y="37947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[Проект 2]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218688" y="409651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[Что сделали и какой результат — одной строкой]</a:t>
            </a:r>
            <a:endParaRPr lang="en-US" sz="1000" dirty="0"/>
          </a:p>
        </p:txBody>
      </p:sp>
      <p:sp>
        <p:nvSpPr>
          <p:cNvPr id="12" name="Картинка кейса 3"/>
          <p:cNvSpPr/>
          <p:nvPr/>
        </p:nvSpPr>
        <p:spPr>
          <a:xfrm>
            <a:off x="6071616" y="1920240"/>
            <a:ext cx="269748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071616" y="26517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картинка проекта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6071616" y="37947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[Проект 3]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071616" y="409651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[Что сделали и какой результат — одной строкой]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365760" y="91440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Дизайнер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4663440" y="9601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[Пара предложений о себе: опыт, подход к работе, принципы. Люди работают с людьми]</a:t>
            </a:r>
            <a:endParaRPr lang="en-US" sz="1100" dirty="0"/>
          </a:p>
        </p:txBody>
      </p:sp>
      <p:sp>
        <p:nvSpPr>
          <p:cNvPr id="4" name="Фото дизайнера"/>
          <p:cNvSpPr/>
          <p:nvPr/>
        </p:nvSpPr>
        <p:spPr>
          <a:xfrm>
            <a:off x="365760" y="2057400"/>
            <a:ext cx="2103120" cy="26517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65760" y="32461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ваше фото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2057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Навыки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242316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[UX/UI: проектирую интерфейсы]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766560" y="242316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[Графдизайн: форма, композиция, типографика]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31546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[Figma: компоненты, стили, автолейауты]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766560" y="31546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[Концепт: придумаю идею под задачу]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38862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[Tilda: сверстаю сайт с анимацией и адаптивом]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766560" y="38862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[Менеджмент: брифую и попадаю в сроки]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365760" y="91440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Контакты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4663440" y="1005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Телефон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663440" y="126187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[+7 (___) ___-__-__]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663440" y="1874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Почта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213055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[name@mail.ru]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2743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299923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[@username]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38862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[Срок действия предложения: до «__» ______ 20__ г.]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erasperadastra KP">
  <a:themeElements>
    <a:clrScheme name="Perasperadastra KP">
      <a:dk1>
        <a:srgbClr val="1A1A1A"/>
      </a:dk1>
      <a:lt1>
        <a:srgbClr val="FFFFFF"/>
      </a:lt1>
      <a:dk2>
        <a:srgbClr val="8C8C8C"/>
      </a:dk2>
      <a:lt2>
        <a:srgbClr val="F2F2F0"/>
      </a:lt2>
      <a:accent1>
        <a:srgbClr val="E0592A"/>
      </a:accent1>
      <a:accent2>
        <a:srgbClr val="1A1A1A"/>
      </a:accent2>
      <a:accent3>
        <a:srgbClr val="BDBDBD"/>
      </a:accent3>
      <a:accent4>
        <a:srgbClr val="F2F2F0"/>
      </a:accent4>
      <a:accent5>
        <a:srgbClr val="8C8C8C"/>
      </a:accent5>
      <a:accent6>
        <a:srgbClr val="E0592A"/>
      </a:accent6>
      <a:hlink>
        <a:srgbClr val="E0592A"/>
      </a:hlink>
      <a:folHlink>
        <a:srgbClr val="8C8C8C"/>
      </a:folHlink>
    </a:clrScheme>
    <a:fontScheme name="Perasperadastra KP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Коммерческое предложение — шаблон</dc:title>
  <dc:subject>PptxGenJS Presentation</dc:subject>
  <dc:creator>Perasperadastra</dc:creator>
  <cp:lastModifiedBy>Perasperadastra</cp:lastModifiedBy>
  <cp:revision>1</cp:revision>
  <dcterms:created xsi:type="dcterms:W3CDTF">2026-10-29T14:44:14Z</dcterms:created>
  <dcterms:modified xsi:type="dcterms:W3CDTF">2026-10-29T14:44:14Z</dcterms:modified>
</cp:coreProperties>
</file>